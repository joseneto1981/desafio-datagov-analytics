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Nome do projeto e uma frase sobre o que ele resolve: transformar dados públicos de licitações em informação confiável para análise, de ponta a ponta.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Contextualizar: dados públicos existem, mas não em formato utilizável. O trabalho de engenharia é justamente essa ponte.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objetivo em uma frase, seguido do fluxo visual que será detalhado nos próximos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Contar a jornada real: testamos 3 fontes, documentamos por que descartamos as duas primeiras. Isso mostra processo de engenharia, não só o resultado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o fluxo da esquerda pra direita. Destacar que bronze preserva o dado bruto -- rastreabilidade e capacidade de reprocessar.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Passar rápido -- a lista fala por si. Se perguntarem, mencionar que cada peça foi escolhida com justificativa técnica (ex: psycopg3 em vez de psycopg2 por compatibilidade com Python 3.14).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Esquema estrela clássico. Mencionar rapidamente a decisão da chave composta da licitação (número + UG + modalidade) como exemplo de achado real ao validar os dados.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testes de regressão são o destaque: cada um existe porque um bug real aconteceu durante o desenvolvimento e foi transformado em rede de segurança permanente.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o conceito de dependência: uma task só roda se a anterior teve sucesso. O portão de qualidade é o ponto que mais gosto de destacar.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batem entre SQL e o dashboard -- prova de consistência do pipeline. A queda de abril é uma observação honesta, não escondida.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 achado prova que o pipeline gera valor real, não só processa dados. Mencionar a regra: 2 desvios-padrão, mínimo 5 ocorrências do produto, centralizada numa view SQL (fonte única de verdade, não duplicada em DAX).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dashboard.pdf ou abrir o .pbix ao vivo aqui, se possível. Destacar a decisão de reusar a view SQL em vez de recalcular em DAX.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um desses foi um obstáculo real, não hipotético. Escolher 2-3 para contar com mais detalhe conforme o interesse da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decisão tem uma justificativa técnica documentada no README — mostrar que não foi escolha arbitrária.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limitações com confiança -- documentá-las é sinal de maturidade, não de fraqueza do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mostrando visão de evolução -- o projeto está completo nos requisitos obrigatórios, mas o roadmap mostra pensamento de produto contínuo.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Reforçar disposição a aprofundar em qualquer parte específica que interessar à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DataGov Analytics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Dados de Compras Governamentais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 Técnico de Engenharia de Dados — Apresentação Final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6035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Organizações que vendem para o setor público precisam analisar padrões de compras governamentais — quem compra, o quê, por quanto, e como isso muda ao longo do tempo.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858000" y="1554480"/>
            <a:ext cx="4846320" cy="3931920"/>
          </a:xfrm>
          <a:prstGeom prst="roundRect">
            <a:avLst>
              <a:gd name="adj" fmla="val 2791"/>
            </a:avLst>
          </a:prstGeom>
          <a:solidFill>
            <a:srgbClr val="F4F7F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223760" y="1828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obstáculo real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223760" y="2331720"/>
            <a:ext cx="4114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espalhados em fontes públicas diferentes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 inconsistentes (encoding, separador, vírgula decimal)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estrutura pronta para análise direta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544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uma plataforma de dados de ponta a ponta: da fonte pública bruta a um dashboard analítico confiável.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457200" y="30175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3017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377440" y="3355848"/>
            <a:ext cx="320040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9" name="Shape 6"/>
          <p:cNvSpPr/>
          <p:nvPr/>
        </p:nvSpPr>
        <p:spPr>
          <a:xfrm>
            <a:off x="2743200" y="30175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743200" y="3017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663440" y="3355848"/>
            <a:ext cx="320040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12" name="Shape 9"/>
          <p:cNvSpPr/>
          <p:nvPr/>
        </p:nvSpPr>
        <p:spPr>
          <a:xfrm>
            <a:off x="5029200" y="30175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29200" y="3017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949440" y="3355848"/>
            <a:ext cx="320040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15" name="Shape 12"/>
          <p:cNvSpPr/>
          <p:nvPr/>
        </p:nvSpPr>
        <p:spPr>
          <a:xfrm>
            <a:off x="7315200" y="30175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1E276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5200" y="3017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235440" y="3355848"/>
            <a:ext cx="320040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18" name="Shape 15"/>
          <p:cNvSpPr/>
          <p:nvPr/>
        </p:nvSpPr>
        <p:spPr>
          <a:xfrm>
            <a:off x="9601200" y="3017520"/>
            <a:ext cx="1920240" cy="822960"/>
          </a:xfrm>
          <a:prstGeom prst="roundRect">
            <a:avLst>
              <a:gd name="adj" fmla="val 11111"/>
            </a:avLst>
          </a:prstGeom>
          <a:solidFill>
            <a:srgbClr val="F2A365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9601200" y="30175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457200" y="4297680"/>
            <a:ext cx="11247120" cy="1600200"/>
          </a:xfrm>
          <a:prstGeom prst="roundRect">
            <a:avLst>
              <a:gd name="adj" fmla="val 6857"/>
            </a:avLst>
          </a:prstGeom>
          <a:solidFill>
            <a:srgbClr val="F4F7F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452628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Obter dados de fontes públicas e armazená-los brutos, sem alteração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Tratar, padronizar e validar a qualidade dos dados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em um modelo analítico e responder perguntas de negócio com evidência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 de Dados: uma decisão testada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4F7FD"/>
          </a:solidFill>
          <a:ln/>
        </p:spPr>
      </p:sp>
      <p:sp>
        <p:nvSpPr>
          <p:cNvPr id="6" name="Shape 3"/>
          <p:cNvSpPr/>
          <p:nvPr/>
        </p:nvSpPr>
        <p:spPr>
          <a:xfrm>
            <a:off x="1947672" y="19202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750" y="1996318"/>
            <a:ext cx="433060" cy="4330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2697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PNCP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mais completa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343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Instabilidade confirmada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(503, timeouts recorrentes)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251960" y="16459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F4F7FD"/>
          </a:solidFill>
          <a:ln/>
        </p:spPr>
      </p:sp>
      <p:sp>
        <p:nvSpPr>
          <p:cNvPr id="13" name="Shape 9"/>
          <p:cNvSpPr/>
          <p:nvPr/>
        </p:nvSpPr>
        <p:spPr>
          <a:xfrm>
            <a:off x="5742432" y="192024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510" y="1996318"/>
            <a:ext cx="433060" cy="4330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34840" y="2697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da Transparência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(API autenticada)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43484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Paginação nativa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443484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Bloqueado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526280" y="4343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gov.br exigiu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nível Prata/Ouro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046720" y="1645920"/>
            <a:ext cx="3566160" cy="3931920"/>
          </a:xfrm>
          <a:prstGeom prst="roundRect">
            <a:avLst>
              <a:gd name="adj" fmla="val 3077"/>
            </a:avLst>
          </a:prstGeom>
          <a:solidFill>
            <a:srgbClr val="1E2761"/>
          </a:solidFill>
          <a:ln/>
        </p:spPr>
      </p:sp>
      <p:sp>
        <p:nvSpPr>
          <p:cNvPr id="20" name="Shape 15"/>
          <p:cNvSpPr/>
          <p:nvPr/>
        </p:nvSpPr>
        <p:spPr>
          <a:xfrm>
            <a:off x="9537192" y="1920240"/>
            <a:ext cx="585216" cy="585216"/>
          </a:xfrm>
          <a:prstGeom prst="ellipse">
            <a:avLst/>
          </a:prstGeom>
          <a:solidFill>
            <a:srgbClr val="F2A36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3270" y="1996318"/>
            <a:ext cx="433060" cy="4330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0" y="2697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Portal da Transparência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(CSV em lote)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autenticação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0" y="38404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A3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uso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321040" y="43434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Estável, 4 meses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dados (jan-abr/2024)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do Pipeline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9202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92024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(fonte)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029968" y="2304288"/>
            <a:ext cx="228600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8" name="Shape 5"/>
          <p:cNvSpPr/>
          <p:nvPr/>
        </p:nvSpPr>
        <p:spPr>
          <a:xfrm>
            <a:off x="2286000" y="19202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286000" y="192024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(bruto)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858768" y="2304288"/>
            <a:ext cx="228600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0" y="19202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114800" y="192024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(tratado)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687568" y="2304288"/>
            <a:ext cx="228600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14" name="Shape 11"/>
          <p:cNvSpPr/>
          <p:nvPr/>
        </p:nvSpPr>
        <p:spPr>
          <a:xfrm>
            <a:off x="5943600" y="19202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0" y="192024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(estrela)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516368" y="2304288"/>
            <a:ext cx="228600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17" name="Shape 14"/>
          <p:cNvSpPr/>
          <p:nvPr/>
        </p:nvSpPr>
        <p:spPr>
          <a:xfrm>
            <a:off x="7772400" y="19202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72400" y="192024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(DW)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345168" y="2304288"/>
            <a:ext cx="228600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20" name="Shape 17"/>
          <p:cNvSpPr/>
          <p:nvPr/>
        </p:nvSpPr>
        <p:spPr>
          <a:xfrm>
            <a:off x="9601200" y="1920240"/>
            <a:ext cx="1572768" cy="914400"/>
          </a:xfrm>
          <a:prstGeom prst="roundRect">
            <a:avLst>
              <a:gd name="adj" fmla="val 10000"/>
            </a:avLst>
          </a:prstGeom>
          <a:solidFill>
            <a:srgbClr val="F4F7FD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601200" y="1920240"/>
            <a:ext cx="1572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(Power BI)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57200" y="3246120"/>
            <a:ext cx="11247120" cy="1600200"/>
          </a:xfrm>
          <a:prstGeom prst="roundRect">
            <a:avLst>
              <a:gd name="adj" fmla="val 5714"/>
            </a:avLst>
          </a:prstGeom>
          <a:solidFill>
            <a:srgbClr val="F4F7F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347472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Orquestrado por Apache Airflow (Docker): 5 tasks com dependência sequencial, retry automático e portão de qualidade (testes) antes da carga.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preserva a anterior intacta — bronze nunca é sobrescrita, permitindo reprocessamento a qualquer momento.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02920" y="2011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02920" y="20116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3.14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37560" y="2011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3337560" y="20116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2011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172200" y="20116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PyArrow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006840" y="20116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006840" y="20116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33832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2920" y="33832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337560" y="33832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337560" y="33832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172200" y="33832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172200" y="33832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006840" y="33832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006840" y="33832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" y="47548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02920" y="47548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psycopg 3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337560" y="47548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337560" y="47548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172200" y="47548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172200" y="47548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006840" y="4754880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4F7FD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9006840" y="4754880"/>
            <a:ext cx="2697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Git/GitHub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Dimensional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892040" y="2926080"/>
            <a:ext cx="237744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892040" y="2926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fato_item_licitacao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80760" y="1900123"/>
            <a:ext cx="0" cy="952805"/>
          </a:xfrm>
          <a:prstGeom prst="line">
            <a:avLst/>
          </a:prstGeom>
          <a:noFill/>
          <a:ln w="15875">
            <a:solidFill>
              <a:srgbClr val="5A6B8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7280872" y="3114510"/>
            <a:ext cx="1495791" cy="104882"/>
          </a:xfrm>
          <a:prstGeom prst="line">
            <a:avLst/>
          </a:prstGeom>
          <a:noFill/>
          <a:ln w="15875">
            <a:solidFill>
              <a:srgbClr val="5A6B8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22470" y="3812344"/>
            <a:ext cx="924450" cy="1267085"/>
          </a:xfrm>
          <a:prstGeom prst="line">
            <a:avLst/>
          </a:prstGeom>
          <a:noFill/>
          <a:ln w="15875">
            <a:solidFill>
              <a:srgbClr val="5A6B8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 flipV="1">
            <a:off x="4414600" y="3812344"/>
            <a:ext cx="924450" cy="1267085"/>
          </a:xfrm>
          <a:prstGeom prst="line">
            <a:avLst/>
          </a:prstGeom>
          <a:noFill/>
          <a:ln w="15875">
            <a:solidFill>
              <a:srgbClr val="5A6B8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84857" y="3114510"/>
            <a:ext cx="1495791" cy="104882"/>
          </a:xfrm>
          <a:prstGeom prst="line">
            <a:avLst/>
          </a:prstGeom>
          <a:noFill/>
          <a:ln w="15875">
            <a:solidFill>
              <a:srgbClr val="5A6B8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189220" y="1580083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4F7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89220" y="1580083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dim_tempo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885123" y="279447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4F7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885123" y="279447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dim_orgao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855380" y="4759389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4F7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5380" y="4759389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dim_fornecedor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523060" y="4759389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4F7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523060" y="4759389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dim_produto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2493317" y="2794470"/>
            <a:ext cx="1783080" cy="640080"/>
          </a:xfrm>
          <a:prstGeom prst="roundRect">
            <a:avLst>
              <a:gd name="adj" fmla="val 11429"/>
            </a:avLst>
          </a:prstGeom>
          <a:solidFill>
            <a:srgbClr val="F4F7FD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493317" y="279447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dim_licitacao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Grão: 1 linha = 1 item vencido dentro de 1 licitação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Qualidade de Dados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965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88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automatizados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(Pytest)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51960" y="1737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251960" y="1965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4434840" y="2788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regressão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bugs reais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46720" y="1737360"/>
            <a:ext cx="3566160" cy="1828800"/>
          </a:xfrm>
          <a:prstGeom prst="roundRect">
            <a:avLst>
              <a:gd name="adj" fmla="val 6000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1965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0" y="27889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passando, rodando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portão no Airflow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840480"/>
            <a:ext cx="11247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Ingestão: schema obrigatório validado, arquivo rejeitado se divergir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Tratamento: relatório de qualidade por execução (nulos, duplicados, inválidos)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Modelagem: integridade referencial testada fim a fim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Orquestração (Airflow)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8288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ingestao_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331720" y="2235708"/>
            <a:ext cx="292608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8" name="Shape 5"/>
          <p:cNvSpPr/>
          <p:nvPr/>
        </p:nvSpPr>
        <p:spPr>
          <a:xfrm>
            <a:off x="2651760" y="18288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651760" y="18288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transformar_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26280" y="2235708"/>
            <a:ext cx="292608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11" name="Shape 8"/>
          <p:cNvSpPr/>
          <p:nvPr/>
        </p:nvSpPr>
        <p:spPr>
          <a:xfrm>
            <a:off x="4846320" y="18288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46320" y="18288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transformar_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20840" y="2235708"/>
            <a:ext cx="292608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14" name="Shape 11"/>
          <p:cNvSpPr/>
          <p:nvPr/>
        </p:nvSpPr>
        <p:spPr>
          <a:xfrm>
            <a:off x="7040880" y="18288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F2A365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040880" y="18288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testes_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915400" y="2235708"/>
            <a:ext cx="292608" cy="146304"/>
          </a:xfrm>
          <a:prstGeom prst="rightArrow">
            <a:avLst/>
          </a:prstGeom>
          <a:solidFill>
            <a:srgbClr val="5A6B8C"/>
          </a:solidFill>
          <a:ln/>
        </p:spPr>
      </p:sp>
      <p:sp>
        <p:nvSpPr>
          <p:cNvPr id="17" name="Shape 14"/>
          <p:cNvSpPr/>
          <p:nvPr/>
        </p:nvSpPr>
        <p:spPr>
          <a:xfrm>
            <a:off x="9235440" y="18288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235440" y="1828800"/>
            <a:ext cx="1874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carregar_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portão de qualidade: se os testes falharem, a carga nunca roda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57200" y="352044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F4F7F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22960" y="37947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automático (2 tentativas) — validado na prática durante o desenvolvimento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isolados por task e por tentativa, disponíveis via CLI mesmo sem a interface web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problemas reais de ambiente resolvidos no caminho (ver próximo slide)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Achados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F4F7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9659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R$ 19,92 Bi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971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 em compras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meses analisados)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73736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3474720" y="19659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DF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971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líder — R$ 7,43 Bi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(2x o segundo colocado)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355080" y="19659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LCM Construção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355080" y="2971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 líder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R$ 616,5 milhões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98280" y="1737360"/>
            <a:ext cx="2697480" cy="2103120"/>
          </a:xfrm>
          <a:prstGeom prst="roundRect">
            <a:avLst>
              <a:gd name="adj" fmla="val 5217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9235440" y="196596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297180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de negócio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respondidas em SQL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16052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temporal: queda acentuada em abril/2024 — indício de dados parciais na fonte, não de queda real de compras.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F2A365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Anomalia de Preço Detectada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82880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2A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44,96</a:t>
            </a:r>
            <a:endParaRPr lang="en-US" sz="92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2461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desvios-padrão acima da média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20640" y="1828800"/>
            <a:ext cx="6583680" cy="3108960"/>
          </a:xfrm>
          <a:prstGeom prst="roundRect">
            <a:avLst>
              <a:gd name="adj" fmla="val 3529"/>
            </a:avLst>
          </a:prstGeom>
          <a:solidFill>
            <a:srgbClr val="16204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0" y="2148840"/>
            <a:ext cx="5852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Fornecedor: HYDROSTEC Tecnologia e Equipamentos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Item: Conexão Hidráulica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pago: R$ 2.175.000,00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do mesmo item: R$ 1.090,73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0" y="416052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Consistente com erro de digitação na fonte — sinalizado para investigação humana, não veredito automático.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(Power BI)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82880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9436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743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(KPIs + evolução temporal)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743200" y="182880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88036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880360" y="2743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Geográfica (por UF)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029200" y="182880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16636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5166360" y="2743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Produtos (Top 10)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315200" y="182880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F4F7F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45236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6B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2743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Preços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601200" y="1828800"/>
            <a:ext cx="2103120" cy="2377440"/>
          </a:xfrm>
          <a:prstGeom prst="roundRect">
            <a:avLst>
              <a:gd name="adj" fmla="val 4348"/>
            </a:avLst>
          </a:prstGeom>
          <a:solidFill>
            <a:srgbClr val="1E27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9738360" y="1965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2A36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9738360" y="274320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Anomalias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Preço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Conectado ao PostgreSQL (modo Importar) — regra de anomalia calculada por uma view SQL, não duplicada em DAX.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Desafios Reais Enfrentados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60020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2A365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1545336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 instável — troca de estratégia validada com evidência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2A365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2414016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composta incompleta na licitação — 13 casos reais encontrados e corrigidos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333756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2A365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960120" y="3282696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de ordem de operações (dedup vs. chave substituta) — virou teste de regressão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420624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2A36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4151376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Conflito de versão do SQLAlchemy quebrando o Airflow — dependência não utilizada removida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457200" y="5074920"/>
            <a:ext cx="320040" cy="320040"/>
          </a:xfrm>
          <a:prstGeom prst="roundRect">
            <a:avLst>
              <a:gd name="adj" fmla="val 100000"/>
            </a:avLst>
          </a:prstGeom>
          <a:solidFill>
            <a:srgbClr val="F2A365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960120" y="5020056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mount Windows→Docker rejeitando metadados de arquivo — copyfile() no lugar de copy2()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de Engenharia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73736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4F7FD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1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COPY em vez de INSERT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337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no Postgres: 13 minutos → poucos segundos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251960" y="173736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4F7FD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2628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SQL em vez de DAX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3337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anomalia centralizada, não duplicada entre camadas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046720" y="1737360"/>
            <a:ext cx="3566160" cy="2926080"/>
          </a:xfrm>
          <a:prstGeom prst="roundRect">
            <a:avLst>
              <a:gd name="adj" fmla="val 3750"/>
            </a:avLst>
          </a:prstGeom>
          <a:solidFill>
            <a:srgbClr val="F4F7FD"/>
          </a:solidFill>
          <a:ln/>
        </p:spPr>
      </p:sp>
      <p:sp>
        <p:nvSpPr>
          <p:cNvPr id="16" name="Shape 13"/>
          <p:cNvSpPr/>
          <p:nvPr/>
        </p:nvSpPr>
        <p:spPr>
          <a:xfrm>
            <a:off x="8321040" y="2011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32104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8321040" y="2697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como portão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321040" y="333756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no banco só acontece se os 32 testes passarem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Conhecidas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64592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645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autenticada do Portal da Transparência não foi destravada — ingestão depende de download manual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4688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24688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limitados a 4 meses (jan-abr/2024); abril parece ter volume parcial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918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32918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catálogo de categorias (CATMAT/CATSER) na fonte usada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11480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114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web do Airflow instável neste ambiente — orquestração validada via linha de comando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93776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4937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cobrem transformações isoladamente, ainda sem teste de integração fim a fim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901" y="530901"/>
            <a:ext cx="419527" cy="41952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70432" y="420624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69164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45720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1645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Destravar a API autenticada e automatizar a ingestão diária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005840" y="24231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de fato a estratégia de carga incremental já documentada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57200" y="32461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3200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Estender a cobertura temporal além dos 4 meses atuais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457200" y="402336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" y="4023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integração fim a fim contra um banco descartável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457200" y="48006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45720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005840" y="47548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a instabilidade da interface web do Airflow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DataGov Analytics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52144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9B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github.com/JoseNeto1981/Desafio-DataGov-Analytics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DataGov Analytics</dc:creator>
  <cp:lastModifiedBy>DataGov Analytics</cp:lastModifiedBy>
  <cp:revision>1</cp:revision>
  <dcterms:created xsi:type="dcterms:W3CDTF">2026-09-10T13:05:17Z</dcterms:created>
  <dcterms:modified xsi:type="dcterms:W3CDTF">2026-09-10T13:05:17Z</dcterms:modified>
</cp:coreProperties>
</file>